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114800" cy="347472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ENTERPRISE MACHINE LEARNING &amp; GENAI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Customer Segmentation &amp; AI-Powered</a:t>
            </a:r>
          </a:p>
          <a:p>
            <a:pPr>
              <a:spcBef>
                <a:spcPts val="400"/>
              </a:spcBef>
              <a:defRPr sz="3600" b="1">
                <a:solidFill>
                  <a:srgbClr val="3B82F6"/>
                </a:solidFill>
                <a:latin typeface="Segoe UI Semibold"/>
              </a:defRPr>
            </a:pPr>
            <a:r>
              <a:t>Marketing Recommendation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End-to-End Behavioral RFM Clustering, Cloud LLM Orchestration, and Enterprise Multi-Format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2542032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" y="3803904"/>
            <a:ext cx="252374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959352"/>
            <a:ext cx="22128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RFM Feature Engineering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Mathematical extraction of Recency, Frequency &amp; Monetary scores with log transformation.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794760"/>
            <a:ext cx="2542032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65576" y="3803904"/>
            <a:ext cx="252374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3959352"/>
            <a:ext cx="22128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Unsupervised K-Means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Optimal K=4 clustering validated by Silhouette Score (0.3375) and 2D PCA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794760"/>
            <a:ext cx="2542032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3803904"/>
            <a:ext cx="252374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3959352"/>
            <a:ext cx="22128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Google Gemini AI Engine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Zero-downtime 4-tier failover chain synthesizing tailored marketing copy in &lt; 1s.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3794760"/>
            <a:ext cx="2542032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3803904"/>
            <a:ext cx="252374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3959352"/>
            <a:ext cx="22128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Enterprise Architecture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FastAPI microservices, MySQL 8.0, Argon2id security, and 5-format report exports.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Production Platform Build 2.0  •  FastAPI | MySQL | Scikit-Learn | Gemini AI | ReportLab  •  Confidential Executive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BUSINESS CONTEXT &amp; MOTIVATION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The Enterprise Dilemma: Why Mass Marketing Fails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Bridging the critical gap between vast transactional ledgers and personalized customer retention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⚠️  The Legacy Approach: "Batch &amp; Blast"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▸ </a:t>
            </a:r>
            <a:r>
              <a:rPr sz="1050" b="1">
                <a:solidFill>
                  <a:srgbClr val="FFFFFF"/>
                </a:solidFill>
                <a:latin typeface="Segoe UI"/>
              </a:rPr>
              <a:t>Undifferentiated Promotions: </a:t>
            </a:r>
            <a:r>
              <a:rPr sz="1050" b="0">
                <a:solidFill>
                  <a:srgbClr val="E2E8F0"/>
                </a:solidFill>
                <a:latin typeface="Segoe UI"/>
              </a:rPr>
              <a:t>Sending generic 10% coupons to the entire database regardless of purchasing power or recency.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▸ </a:t>
            </a:r>
            <a:r>
              <a:rPr sz="1050" b="1">
                <a:solidFill>
                  <a:srgbClr val="FFFFFF"/>
                </a:solidFill>
                <a:latin typeface="Segoe UI"/>
              </a:rPr>
              <a:t>Severe Margin Erosion: </a:t>
            </a:r>
            <a:r>
              <a:rPr sz="1050" b="0">
                <a:solidFill>
                  <a:srgbClr val="E2E8F0"/>
                </a:solidFill>
                <a:latin typeface="Segoe UI"/>
              </a:rPr>
              <a:t>Subsidizing purchases for high-value VIP patrons who would willingly pay full enterprise price.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▸ </a:t>
            </a:r>
            <a:r>
              <a:rPr sz="1050" b="1">
                <a:solidFill>
                  <a:srgbClr val="FFFFFF"/>
                </a:solidFill>
                <a:latin typeface="Segoe UI"/>
              </a:rPr>
              <a:t>Delayed Churn Detection: </a:t>
            </a:r>
            <a:r>
              <a:rPr sz="1050" b="0">
                <a:solidFill>
                  <a:srgbClr val="E2E8F0"/>
                </a:solidFill>
                <a:latin typeface="Segoe UI"/>
              </a:rPr>
              <a:t>Recency elongation goes unnoticed until months after defection, when win-back campaigns fail.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▸ </a:t>
            </a:r>
            <a:r>
              <a:rPr sz="1050" b="1">
                <a:solidFill>
                  <a:srgbClr val="FFFFFF"/>
                </a:solidFill>
                <a:latin typeface="Segoe UI"/>
              </a:rPr>
              <a:t>Skyrocketing CAC: </a:t>
            </a:r>
            <a:r>
              <a:rPr sz="1050" b="0">
                <a:solidFill>
                  <a:srgbClr val="E2E8F0"/>
                </a:solidFill>
                <a:latin typeface="Segoe UI"/>
              </a:rPr>
              <a:t>Acquiring a new customer costs 5x to 25x more than retaining an existing profitable customer.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✨  Our Solution: Algorithmic Precision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▸ </a:t>
            </a:r>
            <a:r>
              <a:rPr sz="1050" b="1">
                <a:solidFill>
                  <a:srgbClr val="FFFFFF"/>
                </a:solidFill>
                <a:latin typeface="Segoe UI"/>
              </a:rPr>
              <a:t>Mathematical RFM Clustering: </a:t>
            </a:r>
            <a:r>
              <a:rPr sz="1050" b="0">
                <a:solidFill>
                  <a:srgbClr val="E2E8F0"/>
                </a:solidFill>
                <a:latin typeface="Segoe UI"/>
              </a:rPr>
              <a:t>Unsupervised K-Means ($K=4$) partitions customers into objectively distinct behavioral cohorts.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▸ </a:t>
            </a:r>
            <a:r>
              <a:rPr sz="1050" b="1">
                <a:solidFill>
                  <a:srgbClr val="FFFFFF"/>
                </a:solidFill>
                <a:latin typeface="Segoe UI"/>
              </a:rPr>
              <a:t>Margin &amp; VIP Protection: </a:t>
            </a:r>
            <a:r>
              <a:rPr sz="1050" b="0">
                <a:solidFill>
                  <a:srgbClr val="E2E8F0"/>
                </a:solidFill>
                <a:latin typeface="Segoe UI"/>
              </a:rPr>
              <a:t>Champions receive concierge treatment and exclusive previews rather than margin-eroding discounts.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▸ </a:t>
            </a:r>
            <a:r>
              <a:rPr sz="1050" b="1">
                <a:solidFill>
                  <a:srgbClr val="FFFFFF"/>
                </a:solidFill>
                <a:latin typeface="Segoe UI"/>
              </a:rPr>
              <a:t>Proactive At-Risk Interventions: </a:t>
            </a:r>
            <a:r>
              <a:rPr sz="1050" b="0">
                <a:solidFill>
                  <a:srgbClr val="E2E8F0"/>
                </a:solidFill>
                <a:latin typeface="Segoe UI"/>
              </a:rPr>
              <a:t>Early algorithmic alerts trigger time-sensitive win-back incentives before complete churn.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▸ </a:t>
            </a:r>
            <a:r>
              <a:rPr sz="1050" b="1">
                <a:solidFill>
                  <a:srgbClr val="FFFFFF"/>
                </a:solidFill>
                <a:latin typeface="Segoe UI"/>
              </a:rPr>
              <a:t>Generative AI Copywriting: </a:t>
            </a:r>
            <a:r>
              <a:rPr sz="1050" b="0">
                <a:solidFill>
                  <a:srgbClr val="E2E8F0"/>
                </a:solidFill>
                <a:latin typeface="Segoe UI"/>
              </a:rPr>
              <a:t>Context-aware promotional messages synthesized in &lt; 1 second via Google Gemini 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338328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30368"/>
            <a:ext cx="310896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F4444"/>
                </a:solidFill>
                <a:latin typeface="Segoe UI Semibold"/>
              </a:defRPr>
            </a:pPr>
            <a:r>
              <a:t>5x – 25x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COST OF ACQUISITION VS RETENTION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Retention maximizes bottom-line ROI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120640"/>
            <a:ext cx="3383280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5230368"/>
            <a:ext cx="3108960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 Semibold"/>
              </a:defRPr>
            </a:pPr>
            <a:r>
              <a:t>80.1%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REVENUE FROM TOP CHAMPIONS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Top 46.7% accounts generate 80%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120640"/>
            <a:ext cx="3413455" cy="960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5230368"/>
            <a:ext cx="3139135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 Semibold"/>
              </a:defRPr>
            </a:pPr>
            <a:r>
              <a:t>&lt; 1.0 sec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AI RECOMMENDATION LATENCY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Sub-second multi-model failover synthesis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SYSTEM ARCHITECTURE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4-Tier Modular Microservices Architecture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High-concurrency, asynchronous backend engineered for sub-200ms query latency and zero downtime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03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42032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655064"/>
            <a:ext cx="2523744" cy="50292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6916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Tier 1: Presentation Layer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Vanilla JS (ES6+) Single Page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240280"/>
            <a:ext cx="232257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Modern Design: </a:t>
            </a:r>
            <a:r>
              <a:rPr sz="919" b="0">
                <a:solidFill>
                  <a:srgbClr val="E2E8F0"/>
                </a:solidFill>
                <a:latin typeface="Segoe UI"/>
              </a:rPr>
              <a:t>Glassmorphic dashboard with responsive CSS grid &amp; dark palette.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Chart.js Visuals: </a:t>
            </a:r>
            <a:r>
              <a:rPr sz="919" b="0">
                <a:solidFill>
                  <a:srgbClr val="E2E8F0"/>
                </a:solidFill>
                <a:latin typeface="Segoe UI"/>
              </a:rPr>
              <a:t>Dynamic segment breakdown doughnuts and revenue distribution charts.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Zero Framework Bloat: </a:t>
            </a:r>
            <a:r>
              <a:rPr sz="919" b="0">
                <a:solidFill>
                  <a:srgbClr val="E2E8F0"/>
                </a:solidFill>
                <a:latin typeface="Segoe UI"/>
              </a:rPr>
              <a:t>Instant 60fps load times, no heavy npm bundles, 100% native DOM.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Security Guards: </a:t>
            </a:r>
            <a:r>
              <a:rPr sz="919" b="0">
                <a:solidFill>
                  <a:srgbClr val="E2E8F0"/>
                </a:solidFill>
                <a:latin typeface="Segoe UI"/>
              </a:rPr>
              <a:t>Client-side JWT storage and role-based route gating.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645920"/>
            <a:ext cx="2542032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65576" y="1655064"/>
            <a:ext cx="2523744" cy="50292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6916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  <a:latin typeface="Segoe UI"/>
              </a:defRPr>
            </a:pPr>
            <a:r>
              <a:t>Tier 2: Application REST API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FastAPI &amp; Python 3.11 Microservices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40280"/>
            <a:ext cx="232257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Asynchronous Engine: </a:t>
            </a:r>
            <a:r>
              <a:rPr sz="919" b="0">
                <a:solidFill>
                  <a:srgbClr val="E2E8F0"/>
                </a:solidFill>
                <a:latin typeface="Segoe UI"/>
              </a:rPr>
              <a:t>Non-blocking async/await architecture for high-concurrency throughput.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Pydantic V2 Models: </a:t>
            </a:r>
            <a:r>
              <a:rPr sz="919" b="0">
                <a:solidFill>
                  <a:srgbClr val="E2E8F0"/>
                </a:solidFill>
                <a:latin typeface="Segoe UI"/>
              </a:rPr>
              <a:t>Strict bidirectional data schema validation and automatic OpenAPI docs.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Security &amp; RBAC: </a:t>
            </a:r>
            <a:r>
              <a:rPr sz="919" b="0">
                <a:solidFill>
                  <a:srgbClr val="E2E8F0"/>
                </a:solidFill>
                <a:latin typeface="Segoe UI"/>
              </a:rPr>
              <a:t>Argon2id password verification and stateless HMAC-SHA256 JWT tokens.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CORS &amp; Middleware: </a:t>
            </a:r>
            <a:r>
              <a:rPr sz="919" b="0">
                <a:solidFill>
                  <a:srgbClr val="E2E8F0"/>
                </a:solidFill>
                <a:latin typeface="Segoe UI"/>
              </a:rPr>
              <a:t>Configured origin controls, rate-limiting, and error-trapping middleware.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645920"/>
            <a:ext cx="2542032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1655064"/>
            <a:ext cx="2523744" cy="50292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6916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Tier 3: Relational Persistence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MySQL Server 8.0 &amp; SQLAlchemy 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240280"/>
            <a:ext cx="232257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ACID Compliance: </a:t>
            </a:r>
            <a:r>
              <a:rPr sz="919" b="0">
                <a:solidFill>
                  <a:srgbClr val="E2E8F0"/>
                </a:solidFill>
                <a:latin typeface="Segoe UI"/>
              </a:rPr>
              <a:t>9 normalized tables with relational integrity and strict foreign keys.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Connection Pooling: </a:t>
            </a:r>
            <a:r>
              <a:rPr sz="919" b="0">
                <a:solidFill>
                  <a:srgbClr val="E2E8F0"/>
                </a:solidFill>
                <a:latin typeface="Segoe UI"/>
              </a:rPr>
              <a:t>Optimized pool recycling (3600s) preventing thread exhaustion.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Audit Logging: </a:t>
            </a:r>
            <a:r>
              <a:rPr sz="919" b="0">
                <a:solidFill>
                  <a:srgbClr val="E2E8F0"/>
                </a:solidFill>
                <a:latin typeface="Segoe UI"/>
              </a:rPr>
              <a:t>Immutable audit_logs table tracking all critical system modifications.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Historical Snapshots: </a:t>
            </a:r>
            <a:r>
              <a:rPr sz="919" b="0">
                <a:solidFill>
                  <a:srgbClr val="E2E8F0"/>
                </a:solidFill>
                <a:latin typeface="Segoe UI"/>
              </a:rPr>
              <a:t>Longitudinal segment_snapshots tracking portfolio health over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645920"/>
            <a:ext cx="2542032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655064"/>
            <a:ext cx="2523744" cy="50292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5984" y="16916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8B5CF6"/>
                </a:solidFill>
                <a:latin typeface="Segoe UI"/>
              </a:defRPr>
            </a:pPr>
            <a:r>
              <a:t>Tier 4: Analytics &amp; GenAI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Scikit-Learn &amp; Google Gemini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2240280"/>
            <a:ext cx="232257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RFM Pipeline: </a:t>
            </a:r>
            <a:r>
              <a:rPr sz="919" b="0">
                <a:solidFill>
                  <a:srgbClr val="E2E8F0"/>
                </a:solidFill>
                <a:latin typeface="Segoe UI"/>
              </a:rPr>
              <a:t>Logarithmic transformation, standard scaling, and K-Means clustering.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2D PCA Engine: </a:t>
            </a:r>
            <a:r>
              <a:rPr sz="919" b="0">
                <a:solidFill>
                  <a:srgbClr val="E2E8F0"/>
                </a:solidFill>
                <a:latin typeface="Segoe UI"/>
              </a:rPr>
              <a:t>Principal Component Analysis reducing 3D RFM to 2D Cartesian plane.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Multi-Tier Failover: </a:t>
            </a:r>
            <a:r>
              <a:rPr sz="919" b="0">
                <a:solidFill>
                  <a:srgbClr val="E2E8F0"/>
                </a:solidFill>
                <a:latin typeface="Segoe UI"/>
              </a:rPr>
              <a:t>4-level resilience chain from gemini-3.1-flash-lite to local rule synthesis.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▪ </a:t>
            </a:r>
            <a:r>
              <a:rPr sz="919" b="1">
                <a:solidFill>
                  <a:srgbClr val="FFFFFF"/>
                </a:solidFill>
                <a:latin typeface="Segoe UI"/>
              </a:rPr>
              <a:t>Multi-Format Exporter: </a:t>
            </a:r>
            <a:r>
              <a:rPr sz="919" b="0">
                <a:solidFill>
                  <a:srgbClr val="E2E8F0"/>
                </a:solidFill>
                <a:latin typeface="Segoe UI"/>
              </a:rPr>
              <a:t>Dynamic streaming engines for CSV, XLSX, PDF, DOCX, and JSON.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MATHEMATICAL MODELING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Feature Engineering &amp; RFM Mathematical Formulation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Transforming transactional ledgers into normalized, machine-learning-ready feature vectors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04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413455" cy="237744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83080"/>
            <a:ext cx="308427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Recency (R)</a:t>
            </a:r>
          </a:p>
          <a:p>
            <a:pPr>
              <a:spcBef>
                <a:spcPts val="3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Formula:  R = T_snapshot - max(t_invoice)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▸ </a:t>
            </a:r>
            <a:r>
              <a:rPr sz="919" b="1">
                <a:solidFill>
                  <a:srgbClr val="FFFFFF"/>
                </a:solidFill>
                <a:latin typeface="Segoe UI"/>
              </a:rPr>
              <a:t>Mathematical Role: </a:t>
            </a:r>
            <a:r>
              <a:rPr sz="919" b="0">
                <a:solidFill>
                  <a:srgbClr val="E2E8F0"/>
                </a:solidFill>
                <a:latin typeface="Segoe UI"/>
              </a:rPr>
              <a:t>Measures elapsed days since the customer's last completed purchase.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▸ </a:t>
            </a:r>
            <a:r>
              <a:rPr sz="919" b="1">
                <a:solidFill>
                  <a:srgbClr val="FFFFFF"/>
                </a:solidFill>
                <a:latin typeface="Segoe UI"/>
              </a:rPr>
              <a:t>Strategic Significance: </a:t>
            </a:r>
            <a:r>
              <a:rPr sz="919" b="0">
                <a:solidFill>
                  <a:srgbClr val="E2E8F0"/>
                </a:solidFill>
                <a:latin typeface="Segoe UI"/>
              </a:rPr>
              <a:t>The single strongest predictor of brand relevance and customer retention health.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▸ </a:t>
            </a:r>
            <a:r>
              <a:rPr sz="919" b="1">
                <a:solidFill>
                  <a:srgbClr val="FFFFFF"/>
                </a:solidFill>
                <a:latin typeface="Segoe UI"/>
              </a:rPr>
              <a:t>Scoring Logic: </a:t>
            </a:r>
            <a:r>
              <a:rPr sz="919" b="0">
                <a:solidFill>
                  <a:srgbClr val="E2E8F0"/>
                </a:solidFill>
                <a:latin typeface="Segoe UI"/>
              </a:rPr>
              <a:t>Lower recency days yield higher quintile scores (Rank 5 = Active, Rank 1 = Dormant).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8205" y="1645920"/>
            <a:ext cx="3413455" cy="237744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2797" y="1783080"/>
            <a:ext cx="308427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Segoe UI Semibold"/>
              </a:defRPr>
            </a:pPr>
            <a:r>
              <a:t>Frequency (F)</a:t>
            </a:r>
          </a:p>
          <a:p>
            <a:pPr>
              <a:spcBef>
                <a:spcPts val="3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Formula:  F = Count(Distinct Invoices)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▸ </a:t>
            </a:r>
            <a:r>
              <a:rPr sz="919" b="1">
                <a:solidFill>
                  <a:srgbClr val="FFFFFF"/>
                </a:solidFill>
                <a:latin typeface="Segoe UI"/>
              </a:rPr>
              <a:t>Mathematical Role: </a:t>
            </a:r>
            <a:r>
              <a:rPr sz="919" b="0">
                <a:solidFill>
                  <a:srgbClr val="E2E8F0"/>
                </a:solidFill>
                <a:latin typeface="Segoe UI"/>
              </a:rPr>
              <a:t>Aggregates total successful transactions over the defined observation window.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▸ </a:t>
            </a:r>
            <a:r>
              <a:rPr sz="919" b="1">
                <a:solidFill>
                  <a:srgbClr val="FFFFFF"/>
                </a:solidFill>
                <a:latin typeface="Segoe UI"/>
              </a:rPr>
              <a:t>Strategic Significance: </a:t>
            </a:r>
            <a:r>
              <a:rPr sz="919" b="0">
                <a:solidFill>
                  <a:srgbClr val="E2E8F0"/>
                </a:solidFill>
                <a:latin typeface="Segoe UI"/>
              </a:rPr>
              <a:t>Directly measures customer purchasing cadence, brand loyalty, and habituation.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▸ </a:t>
            </a:r>
            <a:r>
              <a:rPr sz="919" b="1">
                <a:solidFill>
                  <a:srgbClr val="FFFFFF"/>
                </a:solidFill>
                <a:latin typeface="Segoe UI"/>
              </a:rPr>
              <a:t>Scoring Logic: </a:t>
            </a:r>
            <a:r>
              <a:rPr sz="919" b="0">
                <a:solidFill>
                  <a:srgbClr val="E2E8F0"/>
                </a:solidFill>
                <a:latin typeface="Segoe UI"/>
              </a:rPr>
              <a:t>Higher order counts yield higher quintile scores (Rank 5 = Frequent, Rank 1 = One-off).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4890" y="1645920"/>
            <a:ext cx="3413455" cy="237744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9482" y="1783080"/>
            <a:ext cx="308427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 Semibold"/>
              </a:defRPr>
            </a:pPr>
            <a:r>
              <a:t>Monetary (M)</a:t>
            </a:r>
          </a:p>
          <a:p>
            <a:pPr>
              <a:spcBef>
                <a:spcPts val="3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Formula:  M = Sum(Quantity * UnitPrice)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▸ </a:t>
            </a:r>
            <a:r>
              <a:rPr sz="919" b="1">
                <a:solidFill>
                  <a:srgbClr val="FFFFFF"/>
                </a:solidFill>
                <a:latin typeface="Segoe UI"/>
              </a:rPr>
              <a:t>Mathematical Role: </a:t>
            </a:r>
            <a:r>
              <a:rPr sz="919" b="0">
                <a:solidFill>
                  <a:srgbClr val="E2E8F0"/>
                </a:solidFill>
                <a:latin typeface="Segoe UI"/>
              </a:rPr>
              <a:t>Calculates cumulative gross revenue contributed by the individual customer.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▸ </a:t>
            </a:r>
            <a:r>
              <a:rPr sz="919" b="1">
                <a:solidFill>
                  <a:srgbClr val="FFFFFF"/>
                </a:solidFill>
                <a:latin typeface="Segoe UI"/>
              </a:rPr>
              <a:t>Strategic Significance: </a:t>
            </a:r>
            <a:r>
              <a:rPr sz="919" b="0">
                <a:solidFill>
                  <a:srgbClr val="E2E8F0"/>
                </a:solidFill>
                <a:latin typeface="Segoe UI"/>
              </a:rPr>
              <a:t>Reflects customer lifetime value (LTV) and financial impact on the enterprise.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19" b="1">
                <a:solidFill>
                  <a:srgbClr val="38BDF8"/>
                </a:solidFill>
                <a:latin typeface="Segoe UI"/>
              </a:rPr>
              <a:t>▸ </a:t>
            </a:r>
            <a:r>
              <a:rPr sz="919" b="1">
                <a:solidFill>
                  <a:srgbClr val="FFFFFF"/>
                </a:solidFill>
                <a:latin typeface="Segoe UI"/>
              </a:rPr>
              <a:t>Scoring Logic: </a:t>
            </a:r>
            <a:r>
              <a:rPr sz="919" b="0">
                <a:solidFill>
                  <a:srgbClr val="E2E8F0"/>
                </a:solidFill>
                <a:latin typeface="Segoe UI"/>
              </a:rPr>
              <a:t>Higher spend yields higher quintile scores (Rank 5 = High Spender, Rank 1 = Low).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51960"/>
            <a:ext cx="10728655" cy="182880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Segoe UI Semibold"/>
              </a:defRPr>
            </a:pPr>
            <a:r>
              <a:t>⚙️  Feature Engineering &amp; Normalization Pipeline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Segoe UI"/>
              </a:rPr>
              <a:t>▸ </a:t>
            </a:r>
            <a:r>
              <a:rPr sz="1000" b="1">
                <a:solidFill>
                  <a:srgbClr val="FFFFFF"/>
                </a:solidFill>
                <a:latin typeface="Segoe UI"/>
              </a:rPr>
              <a:t>1. Skewness Correction (Log Transform): </a:t>
            </a:r>
            <a:r>
              <a:rPr sz="1000" b="0">
                <a:solidFill>
                  <a:srgbClr val="E2E8F0"/>
                </a:solidFill>
                <a:latin typeface="Segoe UI"/>
              </a:rPr>
              <a:t>Monetary and Frequency variables exhibit extreme positive right-skewness. The system applies log(1 + x) transformation to eliminate skew and stabilize feature variance.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Segoe UI"/>
              </a:rPr>
              <a:t>▸ </a:t>
            </a:r>
            <a:r>
              <a:rPr sz="1000" b="1">
                <a:solidFill>
                  <a:srgbClr val="FFFFFF"/>
                </a:solidFill>
                <a:latin typeface="Segoe UI"/>
              </a:rPr>
              <a:t>2. Z-Score Standardization: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Standardizes transformed features using z = (x - μ) / σ to ensure zero mean and unit variance, preventing Euclidean distance in K-Means from being dominated by high-magnitude monetary values.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1">
                <a:solidFill>
                  <a:srgbClr val="38BDF8"/>
                </a:solidFill>
                <a:latin typeface="Segoe UI"/>
              </a:rPr>
              <a:t>▸ </a:t>
            </a:r>
            <a:r>
              <a:rPr sz="1000" b="1">
                <a:solidFill>
                  <a:srgbClr val="FFFFFF"/>
                </a:solidFill>
                <a:latin typeface="Segoe UI"/>
              </a:rPr>
              <a:t>3. Quantile Scoring (Quintiles 1 to 5): </a:t>
            </a:r>
            <a:r>
              <a:rPr sz="1000" b="0">
                <a:solidFill>
                  <a:srgbClr val="E2E8F0"/>
                </a:solidFill>
                <a:latin typeface="Segoe UI"/>
              </a:rPr>
              <a:t>Computes robust empirical quantile breaks (0.2, 0.4, 0.6, 0.8) to assign integer scores, creating actionable composite RFM indices.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MACHINE LEARNING EVALUATION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Unsupervised K-Means Clustering &amp; 2D PCA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Selecting optimal K=4 via Within-Cluster Sum of Squares (Inertia) and Silhouette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05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 Semibold"/>
              </a:defRPr>
            </a:pPr>
            <a:r>
              <a:t>📊  Clustering Model Evaluation (K = 2 to 6)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Clustering evaluated using Euclidean distance over standardized RFM space: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37744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97280"/>
                <a:gridCol w="1005840"/>
                <a:gridCol w="201168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Inertia (WCSS)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Silhouette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Model Evaluation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6,483.59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0.4328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Oversimplified (Merges VIP &amp; Loyal)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4,869.49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0.3365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Suboptimal separation boundary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4 ⭐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3,939.05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0.3375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Optimal Distinct Business Personas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3,296.71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0.3162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Diminishing returns / Fragmenting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2,855.76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0.3124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Over-segmentation, non-actionable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14400" y="41605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▸ </a:t>
            </a:r>
            <a:r>
              <a:rPr sz="950" b="1">
                <a:solidFill>
                  <a:srgbClr val="FFFFFF"/>
                </a:solidFill>
                <a:latin typeface="Segoe UI"/>
              </a:rPr>
              <a:t>Why K = 4 Was Selected: </a:t>
            </a:r>
            <a:r>
              <a:rPr sz="950" b="0">
                <a:solidFill>
                  <a:srgbClr val="E2E8F0"/>
                </a:solidFill>
                <a:latin typeface="Segoe UI"/>
              </a:rPr>
              <a:t>K = 4 balances mathematical cohesion (Silhouette 0.3375) with commercial actionability, establishing four distinct actionable cohorts.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Segoe UI"/>
              </a:rPr>
              <a:t>▸ </a:t>
            </a:r>
            <a:r>
              <a:rPr sz="950" b="1">
                <a:solidFill>
                  <a:srgbClr val="FFFFFF"/>
                </a:solidFill>
                <a:latin typeface="Segoe UI"/>
              </a:rPr>
              <a:t>Principal Component Analysis (PCA): </a:t>
            </a:r>
            <a:r>
              <a:rPr sz="950" b="0">
                <a:solidFill>
                  <a:srgbClr val="E2E8F0"/>
                </a:solidFill>
                <a:latin typeface="Segoe UI"/>
              </a:rPr>
              <a:t>Compacts 3D standardized RFM vectors into 2D Cartesian coordinates (PCA_1, PCA_2), preserving over 85% of total dataset variance.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533369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2_segments_cluster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50815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63640" y="5742432"/>
            <a:ext cx="50593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Figure: 2D PCA Projection &amp; Dynamic Clustering Visualization from Platform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COHORT FINANCIAL INTELLIGENCE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The 4 Customer Segments: Behavioral &amp; Spend Profiles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Granular portfolio breakdown across engagement recency, order frequency, and revenue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06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1874519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55648"/>
            <a:ext cx="4882896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 Semibold"/>
              </a:defRPr>
            </a:pPr>
            <a:r>
              <a:t>Champions (VIP Cohort)</a:t>
            </a:r>
          </a:p>
          <a:p>
            <a:pPr>
              <a:spcBef>
                <a:spcPts val="2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46.7% of Customers  •  80.1% Total Revenue (₹6,440.00)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Profile: </a:t>
            </a:r>
            <a:r>
              <a:rPr sz="850" b="0">
                <a:solidFill>
                  <a:srgbClr val="E2E8F0"/>
                </a:solidFill>
                <a:latin typeface="Segoe UI"/>
              </a:rPr>
              <a:t>Avg Recency: 20.7 Days | Avg Frequency: 2.0 Orders | Avg Spend: ₹920.00 (up to ₹1,600.00).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RFM Scores: </a:t>
            </a:r>
            <a:r>
              <a:rPr sz="850" b="0">
                <a:solidFill>
                  <a:srgbClr val="E2E8F0"/>
                </a:solidFill>
                <a:latin typeface="Segoe UI"/>
              </a:rPr>
              <a:t>Total RFM Score: 9 to 11. Highest customer lifetime value and activity.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Strategic Action: </a:t>
            </a:r>
            <a:r>
              <a:rPr sz="850" b="0">
                <a:solidFill>
                  <a:srgbClr val="E2E8F0"/>
                </a:solidFill>
                <a:latin typeface="Segoe UI"/>
              </a:rPr>
              <a:t>Dedicated concierge support, early access to new collections, bespoke VIP gifts, no discounts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1874519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755648"/>
            <a:ext cx="4882896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Segoe UI Semibold"/>
              </a:defRPr>
            </a:pPr>
            <a:r>
              <a:t>Loyal Customers</a:t>
            </a:r>
          </a:p>
          <a:p>
            <a:pPr>
              <a:spcBef>
                <a:spcPts val="2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26.7% of Customers  •  7.0% Total Revenue (₹565.00)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Profile: </a:t>
            </a:r>
            <a:r>
              <a:rPr sz="850" b="0">
                <a:solidFill>
                  <a:srgbClr val="E2E8F0"/>
                </a:solidFill>
                <a:latin typeface="Segoe UI"/>
              </a:rPr>
              <a:t>Avg Recency: 41.3 Days | Avg Frequency: 2.0 Orders | Avg Spend: ₹141.25.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RFM Scores: </a:t>
            </a:r>
            <a:r>
              <a:rPr sz="850" b="0">
                <a:solidFill>
                  <a:srgbClr val="E2E8F0"/>
                </a:solidFill>
                <a:latin typeface="Segoe UI"/>
              </a:rPr>
              <a:t>Consistent buying frequency, modest order size. Strong brand affinity.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Strategic Action: </a:t>
            </a:r>
            <a:r>
              <a:rPr sz="850" b="0">
                <a:solidFill>
                  <a:srgbClr val="E2E8F0"/>
                </a:solidFill>
                <a:latin typeface="Segoe UI"/>
              </a:rPr>
              <a:t>Deploy personalized cross-selling bundles, loyalty point milestones, and free shipping spend thresholds.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212080" cy="1874519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67328"/>
            <a:ext cx="4882896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 Semibold"/>
              </a:defRPr>
            </a:pPr>
            <a:r>
              <a:t>At Risk (Immediate Alert)</a:t>
            </a:r>
          </a:p>
          <a:p>
            <a:pPr>
              <a:spcBef>
                <a:spcPts val="2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13.3% of Customers  •  6.3% Total Revenue (₹510.00)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Profile: </a:t>
            </a:r>
            <a:r>
              <a:rPr sz="850" b="0">
                <a:solidFill>
                  <a:srgbClr val="E2E8F0"/>
                </a:solidFill>
                <a:latin typeface="Segoe UI"/>
              </a:rPr>
              <a:t>Avg Recency: 74.5 Days (Lapsed!) | Avg Frequency: 2.0 Orders | Avg Spend: ₹255.00.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RFM Scores: </a:t>
            </a:r>
            <a:r>
              <a:rPr sz="850" b="0">
                <a:solidFill>
                  <a:srgbClr val="E2E8F0"/>
                </a:solidFill>
                <a:latin typeface="Segoe UI"/>
              </a:rPr>
              <a:t>Previously valuable spenders exhibiting severe elongation in purchase intervals.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Strategic Action: </a:t>
            </a:r>
            <a:r>
              <a:rPr sz="850" b="0">
                <a:solidFill>
                  <a:srgbClr val="E2E8F0"/>
                </a:solidFill>
                <a:latin typeface="Segoe UI"/>
              </a:rPr>
              <a:t>Trigger automated win-back sequence with 20% time-limited discounts and feedback surveys.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212080" cy="1874519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767328"/>
            <a:ext cx="4882896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 Semibold"/>
              </a:defRPr>
            </a:pPr>
            <a:r>
              <a:t>Lost Customers (Dormant)</a:t>
            </a:r>
          </a:p>
          <a:p>
            <a:pPr>
              <a:spcBef>
                <a:spcPts val="2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13.3% of Customers  •  6.5% Total Revenue (₹520.00)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Profile: </a:t>
            </a:r>
            <a:r>
              <a:rPr sz="850" b="0">
                <a:solidFill>
                  <a:srgbClr val="E2E8F0"/>
                </a:solidFill>
                <a:latin typeface="Segoe UI"/>
              </a:rPr>
              <a:t>Avg Recency: 100+ Days | Avg Frequency: 2.0 Orders | Avg Spend: ₹260.00.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RFM Scores: </a:t>
            </a:r>
            <a:r>
              <a:rPr sz="850" b="0">
                <a:solidFill>
                  <a:srgbClr val="E2E8F0"/>
                </a:solidFill>
                <a:latin typeface="Segoe UI"/>
              </a:rPr>
              <a:t>Completely lapsed cohort. Zero purchasing activity over extended observation window.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▪ </a:t>
            </a:r>
            <a:r>
              <a:rPr sz="850" b="1">
                <a:solidFill>
                  <a:srgbClr val="FFFFFF"/>
                </a:solidFill>
                <a:latin typeface="Segoe UI"/>
              </a:rPr>
              <a:t>Strategic Action: </a:t>
            </a:r>
            <a:r>
              <a:rPr sz="850" b="0">
                <a:solidFill>
                  <a:srgbClr val="E2E8F0"/>
                </a:solidFill>
                <a:latin typeface="Segoe UI"/>
              </a:rPr>
              <a:t>Low-cost automated email reactivation blast highlighting major catalog updates; suppress costly physical outreach.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5099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Segoe UI"/>
              </a:defRPr>
            </a:pPr>
            <a:r>
              <a:t>💡  Full Model Verification: Model also validated across historical dataset of 4,338 customer records generating ₹8.88M+ in aggregate transactions.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GENERATIVE AI ARCHITECTURE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Zero-Downtime Multi-Tier AI Marketing Engine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Automated multi-model failover chains guaranteeing 100% operational uptime and sub-second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07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 Semibold"/>
              </a:defRPr>
            </a:pPr>
            <a:r>
              <a:t>🤖  Multi-Tier Cloud Failover Resilience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Tier 1: Primary Model (gemini-3.1-flash-lite): </a:t>
            </a:r>
            <a:r>
              <a:rPr sz="980" b="0">
                <a:solidFill>
                  <a:srgbClr val="E2E8F0"/>
                </a:solidFill>
                <a:latin typeface="Segoe UI"/>
              </a:rPr>
              <a:t>High-throughput, sub-second inference via Google GenAI SDK. Synthesizes context-aware, hyper-personalized copy conditioned on RFM metrics.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Tier 2: Cloud Fallback 1 (gemini-flash-latest): </a:t>
            </a:r>
            <a:r>
              <a:rPr sz="980" b="0">
                <a:solidFill>
                  <a:srgbClr val="E2E8F0"/>
                </a:solidFill>
                <a:latin typeface="Segoe UI"/>
              </a:rPr>
              <a:t>Automatically engaged upon transient HTTP 429 rate-limiting or network latency spikes, ensuring seamless continuity.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Tier 3: Cloud Fallback 2 (gemini-3.5-flash-lite): </a:t>
            </a:r>
            <a:r>
              <a:rPr sz="980" b="0">
                <a:solidFill>
                  <a:srgbClr val="E2E8F0"/>
                </a:solidFill>
                <a:latin typeface="Segoe UI"/>
              </a:rPr>
              <a:t>Tertiary cloud safety net providing cross-model redundancy across regional Google API clusters.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Tier 4: Dynamic Rule Synthesis (Deterministic): </a:t>
            </a:r>
            <a:r>
              <a:rPr sz="980" b="0">
                <a:solidFill>
                  <a:srgbClr val="E2E8F0"/>
                </a:solidFill>
                <a:latin typeface="Segoe UI"/>
              </a:rPr>
              <a:t>Local algorithmic template engine. Synthesizes domain-tailored copy conditioned on customer metrics even during complete cloud disconnects.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Zero CRM Paralyzation: </a:t>
            </a:r>
            <a:r>
              <a:rPr sz="980" b="0">
                <a:solidFill>
                  <a:srgbClr val="E2E8F0"/>
                </a:solidFill>
                <a:latin typeface="Segoe UI"/>
              </a:rPr>
              <a:t>Guarantees that internal CRM marketing operations never encounter HTTP 500 errors or dashboard freeze.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533369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_ai_recommendation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50815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742432"/>
            <a:ext cx="50593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Figure: Live AI Recommendation Modal showing dynamic campaign copy &amp; strategic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SECURITY &amp; COMPLIANCE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Enterprise Security, RBAC &amp; Immutable Audit Governance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Cryptographically enforced access control and end-to-end operational traceability across all user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08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🔒  Enterprise Security Architecture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Argon2id Cryptographic Hashing: </a:t>
            </a:r>
            <a:r>
              <a:rPr sz="980" b="0">
                <a:solidFill>
                  <a:srgbClr val="E2E8F0"/>
                </a:solidFill>
                <a:latin typeface="Segoe UI"/>
              </a:rPr>
              <a:t>Winner of the Password Hashing Competition (PHC). Implements memory-hard and compute-hard parameters delivering maximum protection against GPU/ASIC brute-force attacks.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Stateless JWT Authentication: </a:t>
            </a:r>
            <a:r>
              <a:rPr sz="980" b="0">
                <a:solidFill>
                  <a:srgbClr val="E2E8F0"/>
                </a:solidFill>
                <a:latin typeface="Segoe UI"/>
              </a:rPr>
              <a:t>HMAC-SHA256 signed JSON Web Tokens with configurable expiration (60 mins), eliminating server-side session overhead.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Role-Based Access Control (RBAC): </a:t>
            </a:r>
            <a:r>
              <a:rPr sz="980" b="0">
                <a:solidFill>
                  <a:srgbClr val="E2E8F0"/>
                </a:solidFill>
                <a:latin typeface="Segoe UI"/>
              </a:rPr>
              <a:t>Dual-role boundary enforcement: 'admin' (user management, dataset runs, audit logs) vs 'analyst' (read analytics, run AI campaigns).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Immutable Audit Logging: </a:t>
            </a:r>
            <a:r>
              <a:rPr sz="980" b="0">
                <a:solidFill>
                  <a:srgbClr val="E2E8F0"/>
                </a:solidFill>
                <a:latin typeface="Segoe UI"/>
              </a:rPr>
              <a:t>Every dataset ingestion, user modification, report export, and AI copy generation is persisted to the audit_logs table with client IP, user ID, and timestamp.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Historical Intelligence Repository: </a:t>
            </a:r>
            <a:r>
              <a:rPr sz="980" b="0">
                <a:solidFill>
                  <a:srgbClr val="E2E8F0"/>
                </a:solidFill>
                <a:latin typeface="Segoe UI"/>
              </a:rPr>
              <a:t>Persistent analysis_history table stores every AI recommendation generated over time for regulatory compliance and A/B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533369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role_selection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50815" cy="402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742432"/>
            <a:ext cx="50593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Figure: Role Selection Portal enforcing Admin and Analyst RBAC separation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INTERACTIVE USER INTERFACE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Modern Dashboard &amp; Real-Time Customer Explorer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Single Page Application delivering executive KPI telemetry, instant search, and customer dossier 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09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33369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executive_dashboard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150815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5742432"/>
            <a:ext cx="50593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Figure: Executive Dashboard featuring live KPI telemetry &amp; segment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⚡  Key User Experience Features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Executive KPI Telemetry: </a:t>
            </a:r>
            <a:r>
              <a:rPr sz="980" b="0">
                <a:solidFill>
                  <a:srgbClr val="E2E8F0"/>
                </a:solidFill>
                <a:latin typeface="Segoe UI"/>
              </a:rPr>
              <a:t>Real-time cards displaying Total Segment Revenue, Active Accounts, Average Order Value, and Segment Proportions.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Dynamic Dataset Ingestion: </a:t>
            </a:r>
            <a:r>
              <a:rPr sz="980" b="0">
                <a:solidFill>
                  <a:srgbClr val="E2E8F0"/>
                </a:solidFill>
                <a:latin typeface="Segoe UI"/>
              </a:rPr>
              <a:t>Drag-and-drop pipeline supporting CSV, Excel (XLSX), JSON, TSV, and Parquet formats with automated batch processing.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Instant Multi-Criteria Filtering: </a:t>
            </a:r>
            <a:r>
              <a:rPr sz="980" b="0">
                <a:solidFill>
                  <a:srgbClr val="E2E8F0"/>
                </a:solidFill>
                <a:latin typeface="Segoe UI"/>
              </a:rPr>
              <a:t>Real-time client and server-side search across Customer ID, Behavioral Segment, Priority Tier, and Monetary thresholds.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Customer Dossier Drill-Down: </a:t>
            </a:r>
            <a:r>
              <a:rPr sz="980" b="0">
                <a:solidFill>
                  <a:srgbClr val="E2E8F0"/>
                </a:solidFill>
                <a:latin typeface="Segoe UI"/>
              </a:rPr>
              <a:t>Instant modal inspection revealing granular RFM metrics, historical transaction velocity, and AI recommendations.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Zero-Framework Lightweight UI: </a:t>
            </a:r>
            <a:r>
              <a:rPr sz="980" b="0">
                <a:solidFill>
                  <a:srgbClr val="E2E8F0"/>
                </a:solidFill>
                <a:latin typeface="Segoe UI"/>
              </a:rPr>
              <a:t>Constructed using Vanilla ES6+ JavaScript and CSS glassmorphism, achieving instant 60fps rendering without bloated npm packages.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EXECUTION &amp; REPORTING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Automated Campaigns &amp; Multi-Format Reporting Engine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Bridging mathematical clustering with marketing execution and cross-functional corporate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33369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campaigns_strategic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150815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5742432"/>
            <a:ext cx="50593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Figure: Automated Strategic Campaign Playbook &amp; Recommended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 Semibold"/>
              </a:defRPr>
            </a:pPr>
            <a:r>
              <a:t>📑  Enterprise Multi-Format Reporting Engine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CSV Data Streaming: </a:t>
            </a:r>
            <a:r>
              <a:rPr sz="980" b="0">
                <a:solidFill>
                  <a:srgbClr val="E2E8F0"/>
                </a:solidFill>
                <a:latin typeface="Segoe UI"/>
              </a:rPr>
              <a:t>High-velocity streaming exports for direct CRM ingestion, data warehouse ETL pipelines, and spreadsheets.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Multi-Tab Excel (.xlsx): </a:t>
            </a:r>
            <a:r>
              <a:rPr sz="980" b="0">
                <a:solidFill>
                  <a:srgbClr val="E2E8F0"/>
                </a:solidFill>
                <a:latin typeface="Segoe UI"/>
              </a:rPr>
              <a:t>Styled workbooks compiled via openpyxl featuring formatted colored headers, auto-adjusted column widths, and segment tabs.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Vector PDF Reports: </a:t>
            </a:r>
            <a:r>
              <a:rPr sz="980" b="0">
                <a:solidFill>
                  <a:srgbClr val="E2E8F0"/>
                </a:solidFill>
                <a:latin typeface="Segoe UI"/>
              </a:rPr>
              <a:t>Executive deliverables generated via ReportLab with corporate cover pages, KPI summaries, and custom two-pass page numbering.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Word Document (.docx): </a:t>
            </a:r>
            <a:r>
              <a:rPr sz="980" b="0">
                <a:solidFill>
                  <a:srgbClr val="E2E8F0"/>
                </a:solidFill>
                <a:latin typeface="Segoe UI"/>
              </a:rPr>
              <a:t>Comprehensive audit reports with styled tables, executive briefs, and heading hierarchy generated via python-docx.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RESTful JSON Feeds: </a:t>
            </a:r>
            <a:r>
              <a:rPr sz="980" b="0">
                <a:solidFill>
                  <a:srgbClr val="E2E8F0"/>
                </a:solidFill>
                <a:latin typeface="Segoe UI"/>
              </a:rPr>
              <a:t>Structured JSON endpoints for automated webhook consumption, marketing automation triggers, and downstream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QUALITY ASSURANCE &amp; BENCHMARKS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System Verification, Performance &amp; Quality Assurance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Comprehensive validation across unit tests, API contracts, security bounds, and failover resilience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55648"/>
            <a:ext cx="3108960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 Semibold"/>
              </a:defRPr>
            </a:pPr>
            <a:r>
              <a:t>&lt; 200 ms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BACKEND API LATENCY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Sub-200ms response across all customer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55648"/>
            <a:ext cx="3108960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Segoe UI Semibold"/>
              </a:defRPr>
            </a:pPr>
            <a:r>
              <a:t>&lt; 1.2 sec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END-TO-END AI COPY TIME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Sub-second generative copy via gemini-3.1-flash-lite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13455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755648"/>
            <a:ext cx="3139135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 Semibold"/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TEST SUITE PASS RATE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Full coverage across Unit, API &amp; Integration suites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035808"/>
            <a:ext cx="488289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Segoe UI Semibold"/>
              </a:defRPr>
            </a:pPr>
            <a:r>
              <a:t>Unit Testing Suite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Validates mathematical RFM score calculations, log-transformations, quantile binning, and Argon2id password hash/verification routines.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035808"/>
            <a:ext cx="488289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B82F6"/>
                </a:solidFill>
                <a:latin typeface="Segoe UI Semibold"/>
              </a:defRPr>
            </a:pPr>
            <a:r>
              <a:t>REST API Integration Testing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Validates JWT token issuance, RBAC endpoint gating, customer queries, dataset file uploads, and multi-format document streaming.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90288"/>
            <a:ext cx="488289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8B5CF6"/>
                </a:solidFill>
                <a:latin typeface="Segoe UI Semibold"/>
              </a:defRPr>
            </a:pPr>
            <a:r>
              <a:t>Failover &amp; Stress Testing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Simulates network timeouts and HTTP 429 quota exhaustion to confirm seamless automatic transition to secondary models and Tier 4 synthesis.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48056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590288"/>
            <a:ext cx="488289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Segoe UI Semibold"/>
              </a:defRPr>
            </a:pPr>
            <a:r>
              <a:t>UI &amp; Cross-Browser Verification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Segoe UI"/>
              </a:defRPr>
            </a:pPr>
            <a:r>
              <a:t>Verifies responsive viewport scaling across desktop and tablets, modal popups, Chart.js canvas rendering, and client-side sorting.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  BUSINESS IMPACT &amp; ROADMAP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Strategic Business ROI &amp; Technical Innovation Roadmap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Maximizing customer lifetime value today while architecting for real-time streaming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291072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64224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Customer Segmentation &amp; AI Marketing Platform | 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64224"/>
            <a:ext cx="27733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SLIDE 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 Semibold"/>
              </a:defRPr>
            </a:pPr>
            <a:r>
              <a:t>📈  Measurable Business ROI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Protects Top 80.1% Revenue Stream: </a:t>
            </a:r>
            <a:r>
              <a:rPr sz="980" b="0">
                <a:solidFill>
                  <a:srgbClr val="E2E8F0"/>
                </a:solidFill>
                <a:latin typeface="Segoe UI"/>
              </a:rPr>
              <a:t>Provides dedicated VIP concierge actions for Champions without eroding margins through unnecessary blanket discounts.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Slashes CAC by Proactive Retention: </a:t>
            </a:r>
            <a:r>
              <a:rPr sz="980" b="0">
                <a:solidFill>
                  <a:srgbClr val="E2E8F0"/>
                </a:solidFill>
                <a:latin typeface="Segoe UI"/>
              </a:rPr>
              <a:t>Early algorithmic detection of At-Risk accounts avoids 5x to 25x acquisition costs for replacement customers.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Automates Marketing Operations: </a:t>
            </a:r>
            <a:r>
              <a:rPr sz="980" b="0">
                <a:solidFill>
                  <a:srgbClr val="E2E8F0"/>
                </a:solidFill>
                <a:latin typeface="Segoe UI"/>
              </a:rPr>
              <a:t>Transforms manual copywriting processes into instant, context-aware AI recommendations generated in under 1 second.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Executive Cross-Functional Agility: </a:t>
            </a:r>
            <a:r>
              <a:rPr sz="980" b="0">
                <a:solidFill>
                  <a:srgbClr val="E2E8F0"/>
                </a:solidFill>
                <a:latin typeface="Segoe UI"/>
              </a:rPr>
              <a:t>Instant export of stylized multi-sheet Excel, vector PDF, and Word deliverables for board meetings and sales ops.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Guaranteed Zero-Downtime Operations: </a:t>
            </a:r>
            <a:r>
              <a:rPr sz="980" b="0">
                <a:solidFill>
                  <a:srgbClr val="E2E8F0"/>
                </a:solidFill>
                <a:latin typeface="Segoe UI"/>
              </a:rPr>
              <a:t>4-tier AI failover ensures marketing teams never face system downtime during campaign launches.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1E293B"/>
          </a:solidFill>
          <a:ln w="165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2415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 Semibold"/>
              </a:defRPr>
            </a:pPr>
            <a:r>
              <a:t>🚀  Future Architectural Roadmap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Real-Time Streaming with Apache Kafka: </a:t>
            </a:r>
            <a:r>
              <a:rPr sz="980" b="0">
                <a:solidFill>
                  <a:srgbClr val="E2E8F0"/>
                </a:solidFill>
                <a:latin typeface="Segoe UI"/>
              </a:rPr>
              <a:t>Transition from batch ingestion to real-time event streaming with online clustering (Mini-Batch K-Means).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Reinforcement Learning (Multi-Armed Bandits): </a:t>
            </a:r>
            <a:r>
              <a:rPr sz="980" b="0">
                <a:solidFill>
                  <a:srgbClr val="E2E8F0"/>
                </a:solidFill>
                <a:latin typeface="Segoe UI"/>
              </a:rPr>
              <a:t>Implement contextual bandits to continuously optimize AI marketing copy based on real-time email open and conversion rates.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Automated Omnichannel Webhooks: </a:t>
            </a:r>
            <a:r>
              <a:rPr sz="980" b="0">
                <a:solidFill>
                  <a:srgbClr val="E2E8F0"/>
                </a:solidFill>
                <a:latin typeface="Segoe UI"/>
              </a:rPr>
              <a:t>Direct API integration with Braze, Klaviyo, WhatsApp Business, and Twilio SMS for automated campaign triggering.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Conversational BI (Natural Language Querying): </a:t>
            </a:r>
            <a:r>
              <a:rPr sz="980" b="0">
                <a:solidFill>
                  <a:srgbClr val="E2E8F0"/>
                </a:solidFill>
                <a:latin typeface="Segoe UI"/>
              </a:rPr>
              <a:t>Enable marketing managers to query customer segments using natural language prompts ('Show me Champions who purchased footwear').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80" b="1">
                <a:solidFill>
                  <a:srgbClr val="38BDF8"/>
                </a:solidFill>
                <a:latin typeface="Segoe UI"/>
              </a:rPr>
              <a:t>▸ </a:t>
            </a:r>
            <a:r>
              <a:rPr sz="980" b="1">
                <a:solidFill>
                  <a:srgbClr val="FFFFFF"/>
                </a:solidFill>
                <a:latin typeface="Segoe UI"/>
              </a:rPr>
              <a:t>Multi-Tenant Enterprise Cloud Deployment: </a:t>
            </a:r>
            <a:r>
              <a:rPr sz="980" b="0">
                <a:solidFill>
                  <a:srgbClr val="E2E8F0"/>
                </a:solidFill>
                <a:latin typeface="Segoe UI"/>
              </a:rPr>
              <a:t>Kubernetes-orchestrated microservices supporting multi-region deployment and dynamic tenant data isolation.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